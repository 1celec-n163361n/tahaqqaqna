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افتح بالتعريف: تحققنا تعالج أصعب حالة — إصدار أول هوية وطنية لمواطن لا توجد له بيانات حيوية سابقة. لا نطالب المحكّم بتصديق أرقام؛ نطلب منه تجربة الرحلة على الرابط مباشرة.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لا تهاجم جهة معينة. المشكلة في التصميم: تحقق بلا دليل حيّ وبلا تفسير. اختم بالسؤال المكتوب في الشريط — هو جملة الانتقال إلى الحل.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امشِ على الخطوات بسرعة وأنت تشير للشاشة الحقيقية. لا تشرح التقنية هنا — فقط الرحلة والمبادئ الثلاثة.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التزم بالستين ثانية: 25 للنجاح، 20 للصورة، 15 للجلسة. إن تعطّل الرابط، انتقل فورًا إلى اللقطات في نفس الشريحة دون اعتذار مطوّل.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الشريحة للمحكّم التقني. ركّز على جملة: «سقوط مصدر لا يُسقط الطلب». لا تدخل في تفاصيل الاستضافة إلا إذا سُئلت.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أقوى شريحة تمييزية. الرسالة: القرار قابل للحساب والشرح. إذا سُئلت عن الأوزان: «مضبوطة يدويًا كنموذج أولي وتُعاير على بيانات حقيقية» — لا تدّعِ معايرة.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لا تقل «نوفّر المليارات». قل: هذه مؤشرات نقيسها في تجربة محدودة.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اطلب شيئًا واحدًا واضحًا: تجربة محدودة. الطلب المفتوح لا يُنتج قرارًا.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ملحق — لا تُعرض إلا إذا سُئلت عن التشغيل الفعلي أو قابلية التكامل.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ملحق — أظهر أنك تعرف نقاط ضعفك. هذا يبني ثقة أكثر من أي ادعاء دقة.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لا تسخر من الفرق الأخرى. الرسالة: نحن الأكثر صراحة بشأن ما لم نثبته بعد. هذه الشريحة لا تُعرض إلا إذا سُئلت عن المقارنة.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ملحق — يبيّن أن الطريق واضح، لا أن الفكرة حبر على ورق.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إن سُئلت «كم دقة نظامكم؟» أجب من هذه الشريحة مباشرة: لا رقم قبل اختبار ميداني. هذا الجواب يكسب ثقة أكثر من رقم مُختلق.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23760" y="-1645919"/>
            <a:ext cx="5120640" cy="5120640"/>
          </a:xfrm>
          <a:prstGeom prst="ellipse">
            <a:avLst/>
          </a:prstGeom>
          <a:noFill/>
          <a:ln w="13970">
            <a:solidFill>
              <a:srgbClr val="176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-2468880"/>
            <a:ext cx="6766560" cy="6766560"/>
          </a:xfrm>
          <a:prstGeom prst="ellipse">
            <a:avLst/>
          </a:prstGeom>
          <a:noFill/>
          <a:ln w="13970">
            <a:solidFill>
              <a:srgbClr val="176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77840" y="-3291839"/>
            <a:ext cx="8412480" cy="8412480"/>
          </a:xfrm>
          <a:prstGeom prst="ellipse">
            <a:avLst/>
          </a:prstGeom>
          <a:noFill/>
          <a:ln w="13970">
            <a:solidFill>
              <a:srgbClr val="176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7FC3A0"/>
                </a:solidFill>
                <a:latin typeface="Tahoma"/>
              </a:rPr>
              <a:t>تحدي تسجيل الخصائص الحيوية دون حضور  —  المسار الثاني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417320"/>
            <a:ext cx="7315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Tahoma"/>
              </a:rPr>
              <a:t>تحققنا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53167" y="2487168"/>
            <a:ext cx="1280160" cy="41148"/>
          </a:xfrm>
          <a:prstGeom prst="rect">
            <a:avLst/>
          </a:prstGeom>
          <a:solidFill>
            <a:srgbClr val="7F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69748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Tahoma"/>
              </a:rPr>
              <a:t>التحقق من الهوية عن بُعد</a:t>
            </a:r>
          </a:p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Tahoma"/>
              </a:rPr>
              <a:t>بثقة قابلة للقياس والتفسير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886200"/>
            <a:ext cx="79552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75000"/>
              </a:lnSpc>
              <a:spcAft>
                <a:spcPts val="0"/>
              </a:spcAft>
            </a:pPr>
            <a:r>
              <a:rPr sz="1400" b="0">
                <a:solidFill>
                  <a:srgbClr val="D7EDE2"/>
                </a:solidFill>
                <a:latin typeface="Tahoma"/>
              </a:rPr>
              <a:t>منصة تُصدر الهوية لأول مرة دون حضور — تجمع أدلة متعددة،</a:t>
            </a:r>
          </a:p>
          <a:p>
            <a:pPr algn="r" rtl="1">
              <a:lnSpc>
                <a:spcPct val="175000"/>
              </a:lnSpc>
              <a:spcAft>
                <a:spcPts val="0"/>
              </a:spcAft>
            </a:pPr>
            <a:r>
              <a:rPr sz="1400" b="0">
                <a:solidFill>
                  <a:srgbClr val="D7EDE2"/>
                </a:solidFill>
                <a:latin typeface="Tahoma"/>
              </a:rPr>
              <a:t>توزّع الثقة تكيّفيًا عند غياب أي دليل، وتُخرج قرارًا مفسَّرًا لا رقمًا غامضًا.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67167" y="5138928"/>
            <a:ext cx="35661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67167" y="524865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7FC3A0"/>
                </a:solidFill>
                <a:latin typeface="Tahoma"/>
              </a:rPr>
              <a:t>نموذج تجريبي حي — يعمل الآن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E8E5A"/>
                </a:solidFill>
                <a:latin typeface="Tahoma"/>
              </a:rPr>
              <a:t>ليس خدمة حكومية رسمية  —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E8E5A"/>
                </a:solidFill>
                <a:latin typeface="Tahoma"/>
              </a:rPr>
              <a:t>المشكلة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2283F"/>
                </a:solidFill>
                <a:latin typeface="Tahoma"/>
              </a:rPr>
              <a:t>التحقق عن بُعد… بين حاجة المواطن وخطر الانتحال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27487" y="1353312"/>
            <a:ext cx="1005840" cy="320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86039" y="1527048"/>
            <a:ext cx="344728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7207" y="1682496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7FC3A0"/>
                </a:solidFill>
                <a:latin typeface="Tahom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7207" y="2048256"/>
            <a:ext cx="3044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0"/>
              </a:spcAft>
            </a:pPr>
            <a:r>
              <a:rPr sz="1550" b="1">
                <a:solidFill>
                  <a:srgbClr val="12283F"/>
                </a:solidFill>
                <a:latin typeface="Tahoma"/>
              </a:rPr>
              <a:t>الحضور عائق حقيقي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7207" y="2743200"/>
            <a:ext cx="30449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72000"/>
              </a:lnSpc>
              <a:spcAft>
                <a:spcPts val="0"/>
              </a:spcAft>
            </a:pPr>
            <a:r>
              <a:rPr sz="1200" b="0">
                <a:solidFill>
                  <a:srgbClr val="5B6B7A"/>
                </a:solidFill>
                <a:latin typeface="Tahoma"/>
              </a:rPr>
              <a:t>كل عملية تتطلب زيارة: تابع في مدينة أخرى، مسنّ لا يتنقل، أو مواطن خارج المملكة. التكلفة تُدفع في الوقت والتنقل، لا في التقنية.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2203" y="1527048"/>
            <a:ext cx="344728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3371" y="1682496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7FC3A0"/>
                </a:solidFill>
                <a:latin typeface="Tahom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3371" y="2048256"/>
            <a:ext cx="3044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0"/>
              </a:spcAft>
            </a:pPr>
            <a:r>
              <a:rPr sz="1550" b="1">
                <a:solidFill>
                  <a:srgbClr val="12283F"/>
                </a:solidFill>
                <a:latin typeface="Tahoma"/>
              </a:rPr>
              <a:t>التحقق بلا ضوابط قابل للانتحال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3371" y="2743200"/>
            <a:ext cx="30449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72000"/>
              </a:lnSpc>
              <a:spcAft>
                <a:spcPts val="0"/>
              </a:spcAft>
            </a:pPr>
            <a:r>
              <a:rPr sz="1200" b="0">
                <a:solidFill>
                  <a:srgbClr val="5B6B7A"/>
                </a:solidFill>
                <a:latin typeface="Tahoma"/>
              </a:rPr>
              <a:t>فيديو مسجَّل، صورة مثبتة أمام الكاميرا، أو شخص آخر يؤدي التحديات. أي تحقق عن بُعد لا يواجه هذه الحالات الثلاث هو ثغرة مفتوحة.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7" y="1527048"/>
            <a:ext cx="344728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" y="1682496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7FC3A0"/>
                </a:solidFill>
                <a:latin typeface="Tahom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" y="2048256"/>
            <a:ext cx="30449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0"/>
              </a:spcAft>
            </a:pPr>
            <a:r>
              <a:rPr sz="1550" b="1">
                <a:solidFill>
                  <a:srgbClr val="12283F"/>
                </a:solidFill>
                <a:latin typeface="Tahoma"/>
              </a:rPr>
              <a:t>نتيجة بلا تفسير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" y="2743200"/>
            <a:ext cx="30449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72000"/>
              </a:lnSpc>
              <a:spcAft>
                <a:spcPts val="0"/>
              </a:spcAft>
            </a:pPr>
            <a:r>
              <a:rPr sz="1200" b="0">
                <a:solidFill>
                  <a:srgbClr val="5B6B7A"/>
                </a:solidFill>
                <a:latin typeface="Tahoma"/>
              </a:rPr>
              <a:t>«نجح / فشل» فقط: لا سبب مكتوب، ولا إمكانية تدقيق، ولا مسار طعن. الموظف لا يستطيع الدفاع عن القرار، والمواطن لا يفهمه.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56048"/>
            <a:ext cx="10874959" cy="804672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5157216"/>
            <a:ext cx="103263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0F5132"/>
                </a:solidFill>
                <a:latin typeface="Tahoma"/>
              </a:rPr>
              <a:t>السؤال ليس «هل نتحقق عن بُعد؟» بل «كيف نجعل التحقق عن بُعد قابلًا للإثبات؟»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487" y="6382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9AA8B4"/>
                </a:solidFill>
                <a:latin typeface="Tahoma"/>
              </a:rPr>
              <a:t>تحققنا — نموذج تجريبي ضمن المسابقة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E8E5A"/>
                </a:solidFill>
                <a:latin typeface="Tahoma"/>
              </a:rPr>
              <a:t>الحل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2283F"/>
                </a:solidFill>
                <a:latin typeface="Tahoma"/>
              </a:rPr>
              <a:t>رحلة واحدة… سبع خطوات… قرار مفسَّر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9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5B6B7A"/>
                </a:solidFill>
                <a:latin typeface="Tahoma"/>
              </a:rPr>
              <a:t>منصة ويب واحدة: لا أجهزة إضافية، لا قارئ بصمة، لا زيارة فرع.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7487" y="1719072"/>
            <a:ext cx="1005840" cy="320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89489" y="1865376"/>
            <a:ext cx="144383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89489" y="1975104"/>
            <a:ext cx="14438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4353" y="2231136"/>
            <a:ext cx="133410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2283F"/>
                </a:solidFill>
                <a:latin typeface="Tahoma"/>
              </a:rPr>
              <a:t>نفاذ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17635" y="1865376"/>
            <a:ext cx="144383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7635" y="1975104"/>
            <a:ext cx="14438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499" y="2231136"/>
            <a:ext cx="133410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2283F"/>
                </a:solidFill>
                <a:latin typeface="Tahoma"/>
              </a:rPr>
              <a:t>اختيار التابع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5782" y="1865376"/>
            <a:ext cx="144383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5782" y="1975104"/>
            <a:ext cx="14438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646" y="2231136"/>
            <a:ext cx="133410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2283F"/>
                </a:solidFill>
                <a:latin typeface="Tahoma"/>
              </a:rPr>
              <a:t>الموافقة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73928" y="1865376"/>
            <a:ext cx="144383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3928" y="1975104"/>
            <a:ext cx="14438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8792" y="2231136"/>
            <a:ext cx="133410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2283F"/>
                </a:solidFill>
                <a:latin typeface="Tahoma"/>
              </a:rPr>
              <a:t>صورة الهوية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02075" y="1865376"/>
            <a:ext cx="1443837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2075" y="1975104"/>
            <a:ext cx="14438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6939" y="2231136"/>
            <a:ext cx="133410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2283F"/>
                </a:solidFill>
                <a:latin typeface="Tahoma"/>
              </a:rPr>
              <a:t>الجلسة الحيّة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0221" y="1865376"/>
            <a:ext cx="1443837" cy="914400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30221" y="1975104"/>
            <a:ext cx="14438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5085" y="2231136"/>
            <a:ext cx="133410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2283F"/>
                </a:solidFill>
                <a:latin typeface="Tahoma"/>
              </a:rPr>
              <a:t>التحقق من المصادر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7" y="1865376"/>
            <a:ext cx="1443837" cy="914400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" y="1975104"/>
            <a:ext cx="14438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1" y="2231136"/>
            <a:ext cx="133410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2283F"/>
                </a:solidFill>
                <a:latin typeface="Tahoma"/>
              </a:rPr>
              <a:t>النتيجة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889504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5B6B7A"/>
                </a:solidFill>
                <a:latin typeface="Tahoma"/>
              </a:rPr>
              <a:t>الخطوتان 6 و7 هما حيث يُبنى القرار ويُعرض — ما قبلها إدخال وتحقق.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6039" y="3310128"/>
            <a:ext cx="344728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49279" y="3456432"/>
            <a:ext cx="182880" cy="1828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7207" y="3456432"/>
            <a:ext cx="2761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2283F"/>
                </a:solidFill>
                <a:latin typeface="Tahoma"/>
              </a:rPr>
              <a:t>لا حكم بلا سبب مكتوب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7207" y="3776472"/>
            <a:ext cx="30449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5000"/>
              </a:lnSpc>
              <a:spcAft>
                <a:spcPts val="0"/>
              </a:spcAft>
            </a:pPr>
            <a:r>
              <a:rPr sz="1050" b="0">
                <a:solidFill>
                  <a:srgbClr val="5B6B7A"/>
                </a:solidFill>
                <a:latin typeface="Tahoma"/>
              </a:rPr>
              <a:t>كل رفض يخرج ببطاقة سبب واضحة: «ملامح الوجه غير واضحة»، «تعارض في تاريخ الميلاد»…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2203" y="3310128"/>
            <a:ext cx="344728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35443" y="3456432"/>
            <a:ext cx="182880" cy="1828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3371" y="3456432"/>
            <a:ext cx="2761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2283F"/>
                </a:solidFill>
                <a:latin typeface="Tahoma"/>
              </a:rPr>
              <a:t>الجلسة الحيّة إلزامية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3371" y="3776472"/>
            <a:ext cx="30449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5000"/>
              </a:lnSpc>
              <a:spcAft>
                <a:spcPts val="0"/>
              </a:spcAft>
            </a:pPr>
            <a:r>
              <a:rPr sz="1050" b="0">
                <a:solidFill>
                  <a:srgbClr val="5B6B7A"/>
                </a:solidFill>
                <a:latin typeface="Tahoma"/>
              </a:rPr>
              <a:t>لا يكفي الوجه وحده ولا الصورة وحدها — دليل الحيوية شرط، وغيابه يحوّل الطلب للمراجعة.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7" y="3310128"/>
            <a:ext cx="344728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21607" y="3456432"/>
            <a:ext cx="182880" cy="182880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5" y="3456432"/>
            <a:ext cx="2761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2283F"/>
                </a:solidFill>
                <a:latin typeface="Tahoma"/>
              </a:rPr>
              <a:t>التقدّم محفوظ دائمًا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5" y="3776472"/>
            <a:ext cx="30449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5000"/>
              </a:lnSpc>
              <a:spcAft>
                <a:spcPts val="0"/>
              </a:spcAft>
            </a:pPr>
            <a:r>
              <a:rPr sz="1050" b="0">
                <a:solidFill>
                  <a:srgbClr val="5B6B7A"/>
                </a:solidFill>
                <a:latin typeface="Tahoma"/>
              </a:rPr>
              <a:t>انقطاع الشبكة أو انتهاء جلسة نفاذ لا يُفقد المستخدم ما أنجزه؛ يستأنف من نفس الخطوة.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77316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0F5132"/>
                </a:solidFill>
                <a:latin typeface="Tahoma"/>
              </a:rPr>
              <a:t>المبدأ الحاكم: لا تُرفض هوية بلا سبب مكتوب، ولا تُقبل بلا دليل جلسة حيّة.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13892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B6B7A"/>
                </a:solidFill>
                <a:latin typeface="Tahoma"/>
              </a:rPr>
              <a:t>الزمن المُقاس للرحلة كاملة أثناء الفحص: بين 90 و120 ثانية على اتصال عادي.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1487" y="6382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9AA8B4"/>
                </a:solidFill>
                <a:latin typeface="Tahoma"/>
              </a:rPr>
              <a:t>تحققنا — نموذج تجريبي ضمن المسابقة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E8E5A"/>
                </a:solidFill>
                <a:latin typeface="Tahoma"/>
              </a:rPr>
              <a:t>العرض الحي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2283F"/>
                </a:solidFill>
                <a:latin typeface="Tahoma"/>
              </a:rPr>
              <a:t>ماذا يرى المحكّم في ٦٠ 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9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5B6B7A"/>
                </a:solidFill>
                <a:latin typeface="Tahoma"/>
              </a:rPr>
              <a:t>ثلاثة مشاهد قصيرة، كل مشهد ينتهي بقرار مختلف — لا سيناريو نجاح فقط.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7487" y="1719072"/>
            <a:ext cx="1005840" cy="320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86039" y="1865376"/>
            <a:ext cx="3447288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4143" y="2048256"/>
            <a:ext cx="146304" cy="14630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8919" y="2002536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المشهد 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8919" y="2304288"/>
            <a:ext cx="3081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2283F"/>
                </a:solidFill>
                <a:latin typeface="Tahoma"/>
              </a:rPr>
              <a:t>نجاح كامل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8919" y="2715768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9AA8B4"/>
                </a:solidFill>
                <a:latin typeface="Tahoma"/>
              </a:rPr>
              <a:t>المسار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8919" y="2962656"/>
            <a:ext cx="308152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5B6B7A"/>
                </a:solidFill>
                <a:latin typeface="Tahoma"/>
              </a:rPr>
              <a:t>نفاذ ← تابع ← موافقة ← صورة ← جلسة حيّة ← نتيجة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8919" y="3666744"/>
            <a:ext cx="3081528" cy="13716"/>
          </a:xfrm>
          <a:prstGeom prst="rect">
            <a:avLst/>
          </a:prstGeom>
          <a:solidFill>
            <a:srgbClr val="D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8919" y="3767328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9AA8B4"/>
                </a:solidFill>
                <a:latin typeface="Tahoma"/>
              </a:rPr>
              <a:t>النتيجة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8919" y="4014216"/>
            <a:ext cx="3081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1E8E5A"/>
                </a:solidFill>
                <a:latin typeface="Tahoma"/>
              </a:rPr>
              <a:t>قبول تلقائي — ثقة عالية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8919" y="4425696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5B6B7A"/>
                </a:solidFill>
                <a:latin typeface="Tahoma"/>
              </a:rPr>
              <a:t>المواطن ينهي الطلب دون زيارة.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2203" y="1865376"/>
            <a:ext cx="3447288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0307" y="2048256"/>
            <a:ext cx="146304" cy="146304"/>
          </a:xfrm>
          <a:prstGeom prst="ellipse">
            <a:avLst/>
          </a:prstGeom>
          <a:solidFill>
            <a:srgbClr val="A96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5083" y="2002536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A9670A"/>
                </a:solidFill>
                <a:latin typeface="Tahoma"/>
              </a:rPr>
              <a:t>المشهد 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5083" y="2304288"/>
            <a:ext cx="3081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2283F"/>
                </a:solidFill>
                <a:latin typeface="Tahoma"/>
              </a:rPr>
              <a:t>صورة غير واضحة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5083" y="2715768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9AA8B4"/>
                </a:solidFill>
                <a:latin typeface="Tahoma"/>
              </a:rPr>
              <a:t>المسار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5083" y="2962656"/>
            <a:ext cx="308152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5B6B7A"/>
                </a:solidFill>
                <a:latin typeface="Tahoma"/>
              </a:rPr>
              <a:t>اختيار سيناريو «مشكلة بالصورة» ثم فحص الصورة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5083" y="3666744"/>
            <a:ext cx="3081528" cy="13716"/>
          </a:xfrm>
          <a:prstGeom prst="rect">
            <a:avLst/>
          </a:prstGeom>
          <a:solidFill>
            <a:srgbClr val="D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5083" y="3767328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9AA8B4"/>
                </a:solidFill>
                <a:latin typeface="Tahoma"/>
              </a:rPr>
              <a:t>النتيجة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5083" y="4014216"/>
            <a:ext cx="3081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A9670A"/>
                </a:solidFill>
                <a:latin typeface="Tahoma"/>
              </a:rPr>
              <a:t>رفض بسبب مكتوب + إعادة رفع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5083" y="4425696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5B6B7A"/>
                </a:solidFill>
                <a:latin typeface="Tahoma"/>
              </a:rPr>
              <a:t>زر «التالي» يبقى معطّلًا حتى تُصحّح.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7" y="1865376"/>
            <a:ext cx="3447288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76471" y="2048256"/>
            <a:ext cx="146304" cy="146304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2002536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B3261E"/>
                </a:solidFill>
                <a:latin typeface="Tahoma"/>
              </a:rPr>
              <a:t>المشهد 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2304288"/>
            <a:ext cx="3081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2283F"/>
                </a:solidFill>
                <a:latin typeface="Tahoma"/>
              </a:rPr>
              <a:t>جلسة لم تكتمل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2715768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9AA8B4"/>
                </a:solidFill>
                <a:latin typeface="Tahoma"/>
              </a:rPr>
              <a:t>المسار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2962656"/>
            <a:ext cx="308152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5B6B7A"/>
                </a:solidFill>
                <a:latin typeface="Tahoma"/>
              </a:rPr>
              <a:t>إيقاف الجلسة الحيّة قبل إكمال التحديات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7" y="3666744"/>
            <a:ext cx="3081528" cy="13716"/>
          </a:xfrm>
          <a:prstGeom prst="rect">
            <a:avLst/>
          </a:prstGeom>
          <a:solidFill>
            <a:srgbClr val="D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3767328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9AA8B4"/>
                </a:solidFill>
                <a:latin typeface="Tahoma"/>
              </a:rPr>
              <a:t>النتيجة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4014216"/>
            <a:ext cx="3081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B3261E"/>
                </a:solidFill>
                <a:latin typeface="Tahoma"/>
              </a:rPr>
              <a:t>تحويل للمراجعة البشرية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" y="4425696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5B6B7A"/>
                </a:solidFill>
                <a:latin typeface="Tahoma"/>
              </a:rPr>
              <a:t>النظام لا يمنح قبولًا ناقص الدليل.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41324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5F9F6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5541264"/>
            <a:ext cx="103263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176B43"/>
                </a:solidFill>
                <a:latin typeface="Tahoma"/>
              </a:rPr>
              <a:t>الموقع يعمل الآن — خطة الإيقاظ والنسخة الاحتياطية (لقطات + فيديو) موثّقة في وثيقة العرض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1487" y="6382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9AA8B4"/>
                </a:solidFill>
                <a:latin typeface="Tahoma"/>
              </a:rPr>
              <a:t>تحققنا — نموذج تجريبي ضمن المسابقة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E8E5A"/>
                </a:solidFill>
                <a:latin typeface="Tahoma"/>
              </a:rPr>
              <a:t>كيف تعمل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2283F"/>
                </a:solidFill>
                <a:latin typeface="Tahoma"/>
              </a:rPr>
              <a:t>أربع طبقات… فصل واضح بين التحقق والقرار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9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5B6B7A"/>
                </a:solidFill>
                <a:latin typeface="Tahoma"/>
              </a:rPr>
              <a:t>القرار لا يُبنى على خدمة واحدة، بل على حصيلة أدلة موزونة.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7487" y="1719072"/>
            <a:ext cx="1005840" cy="320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11880" y="1865376"/>
            <a:ext cx="7918704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80292" y="1956816"/>
            <a:ext cx="50292" cy="54864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90304" y="21031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12283F"/>
                </a:solidFill>
                <a:latin typeface="Tahoma"/>
              </a:rPr>
              <a:t>الواجهة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011680"/>
            <a:ext cx="5404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B6B7A"/>
                </a:solidFill>
                <a:latin typeface="Tahoma"/>
              </a:rPr>
              <a:t>سبع خطوات، كاميرا المتصفح، RTL كامل، مؤشر تقدّم وحفظ تلقائي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734056"/>
            <a:ext cx="7918704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80292" y="2825496"/>
            <a:ext cx="50292" cy="5486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0304" y="2971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12283F"/>
                </a:solidFill>
                <a:latin typeface="Tahoma"/>
              </a:rPr>
              <a:t>محرك القرار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880360"/>
            <a:ext cx="5404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B6B7A"/>
                </a:solidFill>
                <a:latin typeface="Tahoma"/>
              </a:rPr>
              <a:t>أوزان لكل دليل + عتبات قبول/مراجعة + قاعدة أمنية صارمة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3602736"/>
            <a:ext cx="7918704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80292" y="3694176"/>
            <a:ext cx="50292" cy="548640"/>
          </a:xfrm>
          <a:prstGeom prst="rect">
            <a:avLst/>
          </a:prstGeom>
          <a:solidFill>
            <a:srgbClr val="17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0304" y="38404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12283F"/>
                </a:solidFill>
                <a:latin typeface="Tahoma"/>
              </a:rPr>
              <a:t>مصادر التحقق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749039"/>
            <a:ext cx="5404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B6B7A"/>
                </a:solidFill>
                <a:latin typeface="Tahoma"/>
              </a:rPr>
              <a:t>نفاذ، السجل المدني، مطابقة الصورة، الجلسة الحيّة، مصادقة اجتماعية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471416"/>
            <a:ext cx="7918704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80292" y="4562855"/>
            <a:ext cx="50292" cy="548640"/>
          </a:xfrm>
          <a:prstGeom prst="rect">
            <a:avLst/>
          </a:prstGeom>
          <a:solidFill>
            <a:srgbClr val="2C5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470915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12283F"/>
                </a:solidFill>
                <a:latin typeface="Tahoma"/>
              </a:rPr>
              <a:t>الأمن والتدقيق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617720"/>
            <a:ext cx="5404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B6B7A"/>
                </a:solidFill>
                <a:latin typeface="Tahoma"/>
              </a:rPr>
              <a:t>سجل قرارات مرتبط بالتجزئة + ختم جلسة + سياسة احتفاظ معلنة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1865376"/>
            <a:ext cx="2743200" cy="2011680"/>
          </a:xfrm>
          <a:prstGeom prst="roundRect">
            <a:avLst>
              <a:gd name="adj" fmla="val 7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2029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0F5132"/>
                </a:solidFill>
                <a:latin typeface="Tahoma"/>
              </a:rPr>
              <a:t>مبدأ الفصل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2395728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600">
                <a:solidFill>
                  <a:srgbClr val="1E8E5A"/>
                </a:solidFill>
                <a:latin typeface="Tahoma"/>
              </a:rPr>
              <a:t>●  </a:t>
            </a:r>
            <a:r>
              <a:rPr sz="1000">
                <a:solidFill>
                  <a:srgbClr val="5B6B7A"/>
                </a:solidFill>
                <a:latin typeface="Tahoma"/>
              </a:rPr>
              <a:t>الواجهة لا تقرر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600">
                <a:solidFill>
                  <a:srgbClr val="1E8E5A"/>
                </a:solidFill>
                <a:latin typeface="Tahoma"/>
              </a:rPr>
              <a:t>●  </a:t>
            </a:r>
            <a:r>
              <a:rPr sz="1000">
                <a:solidFill>
                  <a:srgbClr val="5B6B7A"/>
                </a:solidFill>
                <a:latin typeface="Tahoma"/>
              </a:rPr>
              <a:t>المحرك لا يجمع الأدلة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600">
                <a:solidFill>
                  <a:srgbClr val="1E8E5A"/>
                </a:solidFill>
                <a:latin typeface="Tahoma"/>
              </a:rPr>
              <a:t>●  </a:t>
            </a:r>
            <a:r>
              <a:rPr sz="1000">
                <a:solidFill>
                  <a:srgbClr val="5B6B7A"/>
                </a:solidFill>
                <a:latin typeface="Tahoma"/>
              </a:rPr>
              <a:t>كل مصدر يُسجّل منفصلًا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087368"/>
            <a:ext cx="274320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224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0F5132"/>
                </a:solidFill>
                <a:latin typeface="Tahoma"/>
              </a:rPr>
              <a:t>الفائدة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572000"/>
            <a:ext cx="23042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5000"/>
              </a:lnSpc>
              <a:spcAft>
                <a:spcPts val="0"/>
              </a:spcAft>
            </a:pPr>
            <a:r>
              <a:rPr sz="1000" b="0">
                <a:solidFill>
                  <a:srgbClr val="5B6B7A"/>
                </a:solidFill>
                <a:latin typeface="Tahoma"/>
              </a:rPr>
              <a:t>إذا سقط مصدر، لا تسقط الرحلة — يُعاد توزيع الثقة على الأدلة المتاحة.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1487" y="6382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9AA8B4"/>
                </a:solidFill>
                <a:latin typeface="Tahoma"/>
              </a:rPr>
              <a:t>تحققنا — نموذج تجريبي ضمن المسابقة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E8E5A"/>
                </a:solidFill>
                <a:latin typeface="Tahoma"/>
              </a:rPr>
              <a:t>التمييز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2283F"/>
                </a:solidFill>
                <a:latin typeface="Tahoma"/>
              </a:rPr>
              <a:t>محرك الثقة التكيّفي — لا رقم سحري، بل حساب مفتوح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9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5B6B7A"/>
                </a:solidFill>
                <a:latin typeface="Tahoma"/>
              </a:rPr>
              <a:t>بدل «قبول/رفض» ثنائي: مجموع أوزان الأدلة المتاحة، بحد أقصى 100.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7487" y="1719072"/>
            <a:ext cx="1005840" cy="320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993392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2283F"/>
                </a:solidFill>
                <a:latin typeface="Tahoma"/>
              </a:rPr>
              <a:t>تحقق نفاذ من ولي الأمر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99339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76B43"/>
                </a:solidFill>
                <a:latin typeface="Tahoma"/>
              </a:rPr>
              <a:t>30%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67712"/>
            <a:ext cx="5257800" cy="128016"/>
          </a:xfrm>
          <a:prstGeom prst="roundRect">
            <a:avLst>
              <a:gd name="adj" fmla="val 50000"/>
            </a:avLst>
          </a:prstGeom>
          <a:solidFill>
            <a:srgbClr val="ED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67712"/>
            <a:ext cx="5257800" cy="128016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651760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2283F"/>
                </a:solidFill>
                <a:latin typeface="Tahoma"/>
              </a:rPr>
              <a:t>مطابقة السجل المدني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6517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76B43"/>
                </a:solidFill>
                <a:latin typeface="Tahoma"/>
              </a:rPr>
              <a:t>20%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926080"/>
            <a:ext cx="5257800" cy="128016"/>
          </a:xfrm>
          <a:prstGeom prst="roundRect">
            <a:avLst>
              <a:gd name="adj" fmla="val 50000"/>
            </a:avLst>
          </a:prstGeom>
          <a:solidFill>
            <a:srgbClr val="ED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6239" y="2926080"/>
            <a:ext cx="3505199" cy="128016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310128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2283F"/>
                </a:solidFill>
                <a:latin typeface="Tahoma"/>
              </a:rPr>
              <a:t>صورة مطابقة للاشتراطات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310128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76B43"/>
                </a:solidFill>
                <a:latin typeface="Tahoma"/>
              </a:rPr>
              <a:t>15%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84448"/>
            <a:ext cx="5257800" cy="128016"/>
          </a:xfrm>
          <a:prstGeom prst="roundRect">
            <a:avLst>
              <a:gd name="adj" fmla="val 50000"/>
            </a:avLst>
          </a:prstGeom>
          <a:solidFill>
            <a:srgbClr val="ED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92540" y="3584448"/>
            <a:ext cx="2628900" cy="128016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968496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2283F"/>
                </a:solidFill>
                <a:latin typeface="Tahoma"/>
              </a:rPr>
              <a:t>الجلسة الحيّة (تحديات حركية)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968496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76B43"/>
                </a:solidFill>
                <a:latin typeface="Tahoma"/>
              </a:rPr>
              <a:t>25%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242816"/>
            <a:ext cx="5257800" cy="128016"/>
          </a:xfrm>
          <a:prstGeom prst="roundRect">
            <a:avLst>
              <a:gd name="adj" fmla="val 50000"/>
            </a:avLst>
          </a:prstGeom>
          <a:solidFill>
            <a:srgbClr val="ED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9939" y="4242816"/>
            <a:ext cx="4381500" cy="128016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626864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2283F"/>
                </a:solidFill>
                <a:latin typeface="Tahoma"/>
              </a:rPr>
              <a:t>مصادقة اجتماعية (اختيارية)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62686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76B43"/>
                </a:solidFill>
                <a:latin typeface="Tahoma"/>
              </a:rPr>
              <a:t>10%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901184"/>
            <a:ext cx="5257800" cy="128016"/>
          </a:xfrm>
          <a:prstGeom prst="roundRect">
            <a:avLst>
              <a:gd name="adj" fmla="val 50000"/>
            </a:avLst>
          </a:prstGeom>
          <a:solidFill>
            <a:srgbClr val="ED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68840" y="4901184"/>
            <a:ext cx="1752599" cy="128016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532180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B6B7A"/>
                </a:solidFill>
                <a:latin typeface="Tahoma"/>
              </a:rPr>
              <a:t>المجموع الأقصى = 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1865376"/>
            <a:ext cx="489204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2011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2283F"/>
                </a:solidFill>
                <a:latin typeface="Tahoma"/>
              </a:rPr>
              <a:t>العتبات</a:t>
            </a:r>
          </a:p>
        </p:txBody>
      </p:sp>
      <p:sp>
        <p:nvSpPr>
          <p:cNvPr id="31" name="Oval 30"/>
          <p:cNvSpPr/>
          <p:nvPr/>
        </p:nvSpPr>
        <p:spPr>
          <a:xfrm>
            <a:off x="896112" y="2468880"/>
            <a:ext cx="146304" cy="14630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" y="241401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12283F"/>
                </a:solidFill>
                <a:latin typeface="Tahoma"/>
              </a:rPr>
              <a:t>قبول تلقائي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67328" y="241401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1050" b="1">
                <a:solidFill>
                  <a:srgbClr val="1E8E5A"/>
                </a:solidFill>
                <a:latin typeface="Tahoma"/>
              </a:rPr>
              <a:t>75 أو أكثر</a:t>
            </a:r>
          </a:p>
        </p:txBody>
      </p:sp>
      <p:sp>
        <p:nvSpPr>
          <p:cNvPr id="34" name="Oval 33"/>
          <p:cNvSpPr/>
          <p:nvPr/>
        </p:nvSpPr>
        <p:spPr>
          <a:xfrm>
            <a:off x="896112" y="2871216"/>
            <a:ext cx="146304" cy="146304"/>
          </a:xfrm>
          <a:prstGeom prst="ellipse">
            <a:avLst/>
          </a:prstGeom>
          <a:solidFill>
            <a:srgbClr val="A96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1288" y="281635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12283F"/>
                </a:solidFill>
                <a:latin typeface="Tahoma"/>
              </a:rPr>
              <a:t>مراجعة بشرية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67328" y="281635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1050" b="1">
                <a:solidFill>
                  <a:srgbClr val="A9670A"/>
                </a:solidFill>
                <a:latin typeface="Tahoma"/>
              </a:rPr>
              <a:t>45 – 74</a:t>
            </a:r>
          </a:p>
        </p:txBody>
      </p:sp>
      <p:sp>
        <p:nvSpPr>
          <p:cNvPr id="37" name="Oval 36"/>
          <p:cNvSpPr/>
          <p:nvPr/>
        </p:nvSpPr>
        <p:spPr>
          <a:xfrm>
            <a:off x="896112" y="3273552"/>
            <a:ext cx="146304" cy="146304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1288" y="32186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12283F"/>
                </a:solidFill>
                <a:latin typeface="Tahoma"/>
              </a:rPr>
              <a:t>طلب استكمال الأدلة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7328" y="3218688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1050" b="1">
                <a:solidFill>
                  <a:srgbClr val="B3261E"/>
                </a:solidFill>
                <a:latin typeface="Tahoma"/>
              </a:rPr>
              <a:t>أقل من 45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3813048"/>
            <a:ext cx="4892040" cy="1207008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 w="12700">
            <a:solidFill>
              <a:srgbClr val="F0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3950208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B3261E"/>
                </a:solidFill>
                <a:latin typeface="Tahoma"/>
              </a:rPr>
              <a:t>قاعدة أمنية صارمة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427939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5000"/>
              </a:lnSpc>
              <a:spcAft>
                <a:spcPts val="0"/>
              </a:spcAft>
            </a:pPr>
            <a:r>
              <a:rPr sz="1050" b="0">
                <a:solidFill>
                  <a:srgbClr val="8A2B22"/>
                </a:solidFill>
                <a:latin typeface="Tahoma"/>
              </a:rPr>
              <a:t>غياب دليل الجلسة الحيّة ← مراجعة بشرية إلزامية، مهما كان المجموع 90 أو 100.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157216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5B6B7A"/>
                </a:solidFill>
                <a:latin typeface="Tahoma"/>
              </a:rPr>
              <a:t>الأوزان مضبوطة يدويًا كنموذج أولي، وتُعاير لاحقًا على بيانات تشغيلية — لا نقدّمها كمعايرة نهائية.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1487" y="6382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9AA8B4"/>
                </a:solidFill>
                <a:latin typeface="Tahoma"/>
              </a:rPr>
              <a:t>تحققنا — نموذج تجريبي ضمن المسابقة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E8E5A"/>
                </a:solidFill>
                <a:latin typeface="Tahoma"/>
              </a:rPr>
              <a:t>القيمة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2283F"/>
                </a:solidFill>
                <a:latin typeface="Tahoma"/>
              </a:rPr>
              <a:t>قيمة مختلفة لكل طرف في المعادلة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27487" y="1353312"/>
            <a:ext cx="1005840" cy="320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86039" y="1499616"/>
            <a:ext cx="344728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67567" y="1719072"/>
            <a:ext cx="164592" cy="164592"/>
          </a:xfrm>
          <a:prstGeom prst="ellipse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7207" y="168249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0F5132"/>
                </a:solidFill>
                <a:latin typeface="Tahoma"/>
              </a:rPr>
              <a:t>للمواطن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87207" y="2084832"/>
            <a:ext cx="3044952" cy="13716"/>
          </a:xfrm>
          <a:prstGeom prst="rect">
            <a:avLst/>
          </a:prstGeom>
          <a:solidFill>
            <a:srgbClr val="D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5495" y="2249424"/>
            <a:ext cx="300837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50000"/>
              </a:lnSpc>
              <a:spcAft>
                <a:spcPts val="400"/>
              </a:spcAft>
            </a:pPr>
            <a:r>
              <a:rPr sz="650">
                <a:solidFill>
                  <a:srgbClr val="1E8E5A"/>
                </a:solidFill>
                <a:latin typeface="Tahoma"/>
              </a:rPr>
              <a:t>●  </a:t>
            </a:r>
            <a:r>
              <a:rPr sz="1050">
                <a:solidFill>
                  <a:srgbClr val="5B6B7A"/>
                </a:solidFill>
                <a:latin typeface="Tahoma"/>
              </a:rPr>
              <a:t>إصدار أول هوية دون زيارة فرع</a:t>
            </a:r>
          </a:p>
          <a:p>
            <a:pPr algn="r" rtl="1">
              <a:lnSpc>
                <a:spcPct val="150000"/>
              </a:lnSpc>
              <a:spcAft>
                <a:spcPts val="400"/>
              </a:spcAft>
            </a:pPr>
            <a:r>
              <a:rPr sz="650">
                <a:solidFill>
                  <a:srgbClr val="1E8E5A"/>
                </a:solidFill>
                <a:latin typeface="Tahoma"/>
              </a:rPr>
              <a:t>●  </a:t>
            </a:r>
            <a:r>
              <a:rPr sz="1050">
                <a:solidFill>
                  <a:srgbClr val="5B6B7A"/>
                </a:solidFill>
                <a:latin typeface="Tahoma"/>
              </a:rPr>
              <a:t>مسار بديل لمن لا يستطيع الحركة أو التصوير</a:t>
            </a:r>
          </a:p>
          <a:p>
            <a:pPr algn="r" rtl="1">
              <a:lnSpc>
                <a:spcPct val="150000"/>
              </a:lnSpc>
              <a:spcAft>
                <a:spcPts val="400"/>
              </a:spcAft>
            </a:pPr>
            <a:r>
              <a:rPr sz="650">
                <a:solidFill>
                  <a:srgbClr val="1E8E5A"/>
                </a:solidFill>
                <a:latin typeface="Tahoma"/>
              </a:rPr>
              <a:t>●  </a:t>
            </a:r>
            <a:r>
              <a:rPr sz="1050">
                <a:solidFill>
                  <a:srgbClr val="5B6B7A"/>
                </a:solidFill>
                <a:latin typeface="Tahoma"/>
              </a:rPr>
              <a:t>سبب مكتوب عند الرفض + إمكانية الإعادة</a:t>
            </a:r>
          </a:p>
          <a:p>
            <a:pPr algn="r" rtl="1">
              <a:lnSpc>
                <a:spcPct val="150000"/>
              </a:lnSpc>
              <a:spcAft>
                <a:spcPts val="400"/>
              </a:spcAft>
            </a:pPr>
            <a:r>
              <a:rPr sz="650">
                <a:solidFill>
                  <a:srgbClr val="1E8E5A"/>
                </a:solidFill>
                <a:latin typeface="Tahoma"/>
              </a:rPr>
              <a:t>●  </a:t>
            </a:r>
            <a:r>
              <a:rPr sz="1050">
                <a:solidFill>
                  <a:srgbClr val="5B6B7A"/>
                </a:solidFill>
                <a:latin typeface="Tahoma"/>
              </a:rPr>
              <a:t>إرشاد فوري أثناء التصوير بدل المحاولة العمياء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2203" y="1499616"/>
            <a:ext cx="344728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53731" y="1719072"/>
            <a:ext cx="164592" cy="164592"/>
          </a:xfrm>
          <a:prstGeom prst="ellipse">
            <a:avLst/>
          </a:prstGeom>
          <a:solidFill>
            <a:srgbClr val="17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3371" y="168249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76B43"/>
                </a:solidFill>
                <a:latin typeface="Tahoma"/>
              </a:rPr>
              <a:t>للجهة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3371" y="2084832"/>
            <a:ext cx="3044952" cy="13716"/>
          </a:xfrm>
          <a:prstGeom prst="rect">
            <a:avLst/>
          </a:prstGeom>
          <a:solidFill>
            <a:srgbClr val="D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1659" y="2249424"/>
            <a:ext cx="300837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50000"/>
              </a:lnSpc>
              <a:spcAft>
                <a:spcPts val="400"/>
              </a:spcAft>
            </a:pPr>
            <a:r>
              <a:rPr sz="650">
                <a:solidFill>
                  <a:srgbClr val="1E8E5A"/>
                </a:solidFill>
                <a:latin typeface="Tahoma"/>
              </a:rPr>
              <a:t>●  </a:t>
            </a:r>
            <a:r>
              <a:rPr sz="1050">
                <a:solidFill>
                  <a:srgbClr val="5B6B7A"/>
                </a:solidFill>
                <a:latin typeface="Tahoma"/>
              </a:rPr>
              <a:t>قرار قابل للتدقيق والدفاع عنه</a:t>
            </a:r>
          </a:p>
          <a:p>
            <a:pPr algn="r" rtl="1">
              <a:lnSpc>
                <a:spcPct val="150000"/>
              </a:lnSpc>
              <a:spcAft>
                <a:spcPts val="400"/>
              </a:spcAft>
            </a:pPr>
            <a:r>
              <a:rPr sz="650">
                <a:solidFill>
                  <a:srgbClr val="1E8E5A"/>
                </a:solidFill>
                <a:latin typeface="Tahoma"/>
              </a:rPr>
              <a:t>●  </a:t>
            </a:r>
            <a:r>
              <a:rPr sz="1050">
                <a:solidFill>
                  <a:srgbClr val="5B6B7A"/>
                </a:solidFill>
                <a:latin typeface="Tahoma"/>
              </a:rPr>
              <a:t>عبء مراجعة أقل: الحالات الواضحة تُحسم آليًا</a:t>
            </a:r>
          </a:p>
          <a:p>
            <a:pPr algn="r" rtl="1">
              <a:lnSpc>
                <a:spcPct val="150000"/>
              </a:lnSpc>
              <a:spcAft>
                <a:spcPts val="400"/>
              </a:spcAft>
            </a:pPr>
            <a:r>
              <a:rPr sz="650">
                <a:solidFill>
                  <a:srgbClr val="1E8E5A"/>
                </a:solidFill>
                <a:latin typeface="Tahoma"/>
              </a:rPr>
              <a:t>●  </a:t>
            </a:r>
            <a:r>
              <a:rPr sz="1050">
                <a:solidFill>
                  <a:srgbClr val="5B6B7A"/>
                </a:solidFill>
                <a:latin typeface="Tahoma"/>
              </a:rPr>
              <a:t>سجل زمني لكل خطوة وكل دليل</a:t>
            </a:r>
          </a:p>
          <a:p>
            <a:pPr algn="r" rtl="1">
              <a:lnSpc>
                <a:spcPct val="150000"/>
              </a:lnSpc>
              <a:spcAft>
                <a:spcPts val="400"/>
              </a:spcAft>
            </a:pPr>
            <a:r>
              <a:rPr sz="650">
                <a:solidFill>
                  <a:srgbClr val="1E8E5A"/>
                </a:solidFill>
                <a:latin typeface="Tahoma"/>
              </a:rPr>
              <a:t>●  </a:t>
            </a:r>
            <a:r>
              <a:rPr sz="1050">
                <a:solidFill>
                  <a:srgbClr val="5B6B7A"/>
                </a:solidFill>
                <a:latin typeface="Tahoma"/>
              </a:rPr>
              <a:t>بطاقة سبب جاهزة للإرسال للمواطن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7" y="1499616"/>
            <a:ext cx="344728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39895" y="1719072"/>
            <a:ext cx="164592" cy="164592"/>
          </a:xfrm>
          <a:prstGeom prst="ellipse">
            <a:avLst/>
          </a:prstGeom>
          <a:solidFill>
            <a:srgbClr val="2C5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5" y="168249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2C5F7C"/>
                </a:solidFill>
                <a:latin typeface="Tahoma"/>
              </a:rPr>
              <a:t>للمنظومة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5" y="2084832"/>
            <a:ext cx="3044952" cy="13716"/>
          </a:xfrm>
          <a:prstGeom prst="rect">
            <a:avLst/>
          </a:prstGeom>
          <a:solidFill>
            <a:srgbClr val="D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3" y="2249424"/>
            <a:ext cx="300837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50000"/>
              </a:lnSpc>
              <a:spcAft>
                <a:spcPts val="400"/>
              </a:spcAft>
            </a:pPr>
            <a:r>
              <a:rPr sz="650">
                <a:solidFill>
                  <a:srgbClr val="1E8E5A"/>
                </a:solidFill>
                <a:latin typeface="Tahoma"/>
              </a:rPr>
              <a:t>●  </a:t>
            </a:r>
            <a:r>
              <a:rPr sz="1050">
                <a:solidFill>
                  <a:srgbClr val="5B6B7A"/>
                </a:solidFill>
                <a:latin typeface="Tahoma"/>
              </a:rPr>
              <a:t>لا أجهزة إضافية — متصفح وكاميرا فقط</a:t>
            </a:r>
          </a:p>
          <a:p>
            <a:pPr algn="r" rtl="1">
              <a:lnSpc>
                <a:spcPct val="150000"/>
              </a:lnSpc>
              <a:spcAft>
                <a:spcPts val="400"/>
              </a:spcAft>
            </a:pPr>
            <a:r>
              <a:rPr sz="650">
                <a:solidFill>
                  <a:srgbClr val="1E8E5A"/>
                </a:solidFill>
                <a:latin typeface="Tahoma"/>
              </a:rPr>
              <a:t>●  </a:t>
            </a:r>
            <a:r>
              <a:rPr sz="1050">
                <a:solidFill>
                  <a:srgbClr val="5B6B7A"/>
                </a:solidFill>
                <a:latin typeface="Tahoma"/>
              </a:rPr>
              <a:t>قابل للتكامل مع نفاذ بدل استبداله</a:t>
            </a:r>
          </a:p>
          <a:p>
            <a:pPr algn="r" rtl="1">
              <a:lnSpc>
                <a:spcPct val="150000"/>
              </a:lnSpc>
              <a:spcAft>
                <a:spcPts val="400"/>
              </a:spcAft>
            </a:pPr>
            <a:r>
              <a:rPr sz="650">
                <a:solidFill>
                  <a:srgbClr val="1E8E5A"/>
                </a:solidFill>
                <a:latin typeface="Tahoma"/>
              </a:rPr>
              <a:t>●  </a:t>
            </a:r>
            <a:r>
              <a:rPr sz="1050">
                <a:solidFill>
                  <a:srgbClr val="5B6B7A"/>
                </a:solidFill>
                <a:latin typeface="Tahoma"/>
              </a:rPr>
              <a:t>قياس مستمر لمعدلات الرفض والمراجعة</a:t>
            </a:r>
          </a:p>
          <a:p>
            <a:pPr algn="r" rtl="1">
              <a:lnSpc>
                <a:spcPct val="150000"/>
              </a:lnSpc>
              <a:spcAft>
                <a:spcPts val="400"/>
              </a:spcAft>
            </a:pPr>
            <a:r>
              <a:rPr sz="650">
                <a:solidFill>
                  <a:srgbClr val="1E8E5A"/>
                </a:solidFill>
                <a:latin typeface="Tahoma"/>
              </a:rPr>
              <a:t>●  </a:t>
            </a:r>
            <a:r>
              <a:rPr sz="1050">
                <a:solidFill>
                  <a:srgbClr val="5B6B7A"/>
                </a:solidFill>
                <a:latin typeface="Tahoma"/>
              </a:rPr>
              <a:t>سياسة بيانات معلنة داخل الواجهة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754880"/>
            <a:ext cx="10874959" cy="713232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937760"/>
            <a:ext cx="103263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0F5132"/>
                </a:solidFill>
                <a:latin typeface="Tahoma"/>
              </a:rPr>
              <a:t>الهدف: تحويل التحقق من حدث يحدث مرة في الفرع… إلى خدمة تُقاس وتُدقّق في كل طلب.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7607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B6B7A"/>
                </a:solidFill>
                <a:latin typeface="Tahoma"/>
              </a:rPr>
              <a:t>مؤشرات مقترحة للجنة: نسبة الطلبات المكتملة دون تدخل بشري — زمن الرحلة — نسبة الاعتراضات المفسَّرة بسبب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1487" y="6382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9AA8B4"/>
                </a:solidFill>
                <a:latin typeface="Tahoma"/>
              </a:rPr>
              <a:t>تحققنا — نموذج تجريبي ضمن المسابقة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E8E5A"/>
                </a:solidFill>
                <a:latin typeface="Tahoma"/>
              </a:rPr>
              <a:t>الخاتمة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2283F"/>
                </a:solidFill>
                <a:latin typeface="Tahoma"/>
              </a:rPr>
              <a:t>ما نطلبه للانتقال من نموذج إلى تشغيل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27487" y="1353312"/>
            <a:ext cx="1005840" cy="320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27048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F5F9F6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66399" y="1746504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7FC3A0"/>
                </a:solidFill>
                <a:latin typeface="Tahom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636776"/>
            <a:ext cx="9869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12283F"/>
                </a:solidFill>
                <a:latin typeface="Tahoma"/>
              </a:rPr>
              <a:t>تجربة محدودة (Pilot)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9869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B6B7A"/>
                </a:solidFill>
                <a:latin typeface="Tahoma"/>
              </a:rPr>
              <a:t>جهة واحدة، بين 200 و500 طلب، مدة 8 أسابيع — لقياس الدقة والزمن ومعدلات المراجعة فعليًا.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68296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F5F9F6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66399" y="2587752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7FC3A0"/>
                </a:solidFill>
                <a:latin typeface="Tahom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478024"/>
            <a:ext cx="9869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12283F"/>
                </a:solidFill>
                <a:latin typeface="Tahoma"/>
              </a:rPr>
              <a:t>تكامل نفاذ في بيئة اختبار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79776"/>
            <a:ext cx="9869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B6B7A"/>
                </a:solidFill>
                <a:latin typeface="Tahoma"/>
              </a:rPr>
              <a:t>لإثبات أن الطبقة الأمنية تعمل مع منظومة قائمة، لا في محاكاة معزولة.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09544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F5F9F6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66399" y="3429000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7FC3A0"/>
                </a:solidFill>
                <a:latin typeface="Tahom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319272"/>
            <a:ext cx="9869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12283F"/>
                </a:solidFill>
                <a:latin typeface="Tahoma"/>
              </a:rPr>
              <a:t>بيانات تشغيلية لمعايرة الأوزان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21024"/>
            <a:ext cx="9869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B6B7A"/>
                </a:solidFill>
                <a:latin typeface="Tahoma"/>
              </a:rPr>
              <a:t>بدونها تبقى الأوزان افتراضية — ومعها تصبح قابلة للدفاع أمام أي مدقق.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709160"/>
            <a:ext cx="10874959" cy="868680"/>
          </a:xfrm>
          <a:prstGeom prst="roundRect">
            <a:avLst>
              <a:gd name="adj" fmla="val 9000"/>
            </a:avLst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901184"/>
            <a:ext cx="101434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ahoma"/>
              </a:rPr>
              <a:t>تحققنا لا يستبدل التحقق الحضوري — يمنحه بديلًا قابلًا للإثبات.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7607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B6B7A"/>
                </a:solidFill>
                <a:latin typeface="Tahoma"/>
              </a:rPr>
              <a:t>فريق تحققنا  —  المسار الثاني  —  جاهزون للتجربة الحيّة الآن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1487" y="6382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9AA8B4"/>
                </a:solidFill>
                <a:latin typeface="Tahoma"/>
              </a:rPr>
              <a:t>تحققنا — نموذج تجريبي ضمن المسابقة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E8E5A"/>
                </a:solidFill>
                <a:latin typeface="Tahoma"/>
              </a:rPr>
              <a:t>ملحق 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2283F"/>
                </a:solidFill>
                <a:latin typeface="Tahoma"/>
              </a:rPr>
              <a:t>المعمارية المقترحة للتشغيل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9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5B6B7A"/>
                </a:solidFill>
                <a:latin typeface="Tahoma"/>
              </a:rPr>
              <a:t>نفس منطق النموذج، بطبقات قابلة للاستبدال.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7487" y="1719072"/>
            <a:ext cx="1005840" cy="320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1956816"/>
            <a:ext cx="10387584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66576" y="2066544"/>
            <a:ext cx="54864" cy="54864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61704" y="20848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2283F"/>
                </a:solidFill>
                <a:latin typeface="Tahoma"/>
              </a:rPr>
              <a:t>المتصفح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359152"/>
            <a:ext cx="7644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B6B7A"/>
                </a:solidFill>
                <a:latin typeface="Tahoma"/>
              </a:rPr>
              <a:t>واجهة عربية RTL — كاميرا المتصفح — سبع خطوات — حفظ حالة محلي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272491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7FC3A0"/>
                </a:solidFill>
                <a:latin typeface="Tahoma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2962656"/>
            <a:ext cx="10387584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66576" y="3072384"/>
            <a:ext cx="54864" cy="548640"/>
          </a:xfrm>
          <a:prstGeom prst="rect">
            <a:avLst/>
          </a:prstGeom>
          <a:solidFill>
            <a:srgbClr val="17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30906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2283F"/>
                </a:solidFill>
                <a:latin typeface="Tahoma"/>
              </a:rPr>
              <a:t>طبقة الواجهة البرمجية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364992"/>
            <a:ext cx="7644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B6B7A"/>
                </a:solidFill>
                <a:latin typeface="Tahoma"/>
              </a:rPr>
              <a:t>إدارة الجلسات — تحقق من الصلاحيات — توجيه الطلبات — حدود المعدل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373075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7FC3A0"/>
                </a:solidFill>
                <a:latin typeface="Tahoma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968496"/>
            <a:ext cx="10387584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66576" y="4078224"/>
            <a:ext cx="54864" cy="5486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409651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2283F"/>
                </a:solidFill>
                <a:latin typeface="Tahoma"/>
              </a:rPr>
              <a:t>خدمات التحقق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370832"/>
            <a:ext cx="7644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B6B7A"/>
                </a:solidFill>
                <a:latin typeface="Tahoma"/>
              </a:rPr>
              <a:t>نفاذ — السجل المدني — كشف الجلسة الحيّة — مطابقة الوجه — كاشف التناقض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473659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7FC3A0"/>
                </a:solidFill>
                <a:latin typeface="Tahoma"/>
              </a:rP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974336"/>
            <a:ext cx="10387584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66576" y="5084064"/>
            <a:ext cx="54864" cy="548640"/>
          </a:xfrm>
          <a:prstGeom prst="rect">
            <a:avLst/>
          </a:prstGeom>
          <a:solidFill>
            <a:srgbClr val="2C5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61704" y="51023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2283F"/>
                </a:solidFill>
                <a:latin typeface="Tahoma"/>
              </a:rPr>
              <a:t>البيانات والتدقيق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5376672"/>
            <a:ext cx="7644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B6B7A"/>
                </a:solidFill>
                <a:latin typeface="Tahoma"/>
              </a:rPr>
              <a:t>جلسة — أدلة — قرار — سجل مرتبط بالتجزئة — سياسة احتفاظ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7044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B6B7A"/>
                </a:solidFill>
                <a:latin typeface="Tahoma"/>
              </a:rPr>
              <a:t>قابلية الاستبدال: كل خدمة تحقق تُستدعى خلف واجهة واحدة — استبدالها لا يمسّ الرحلة.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1487" y="6382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9AA8B4"/>
                </a:solidFill>
                <a:latin typeface="Tahoma"/>
              </a:rPr>
              <a:t>تحققنا — نموذج تجريبي ضمن المسابقة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E8E5A"/>
                </a:solidFill>
                <a:latin typeface="Tahoma"/>
              </a:rPr>
              <a:t>ملحق 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2283F"/>
                </a:solidFill>
                <a:latin typeface="Tahoma"/>
              </a:rPr>
              <a:t>تحليل المخاطر ومعالجتها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9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5B6B7A"/>
                </a:solidFill>
                <a:latin typeface="Tahoma"/>
              </a:rPr>
              <a:t>كل خطر مقابل إجراء قائم أو مخطط — لا وعود.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7487" y="1719072"/>
            <a:ext cx="1005840" cy="320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65376"/>
          <a:ext cx="1087221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4416"/>
                <a:gridCol w="2011680"/>
                <a:gridCol w="3246120"/>
              </a:tblGrid>
              <a:tr h="457200"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Tahoma"/>
                        </a:rPr>
                        <a:t>المعالجة</a:t>
                      </a:r>
                    </a:p>
                  </a:txBody>
                  <a:tcPr marL="91440" marR="91440" marT="36576" marB="36576" anchor="ctr">
                    <a:solidFill>
                      <a:srgbClr val="0F5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Tahoma"/>
                        </a:rPr>
                        <a:t>الأثر</a:t>
                      </a:r>
                    </a:p>
                  </a:txBody>
                  <a:tcPr marL="91440" marR="91440" marT="36576" marB="36576" anchor="ctr">
                    <a:solidFill>
                      <a:srgbClr val="0F5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Tahoma"/>
                        </a:rPr>
                        <a:t>الخطر</a:t>
                      </a:r>
                    </a:p>
                  </a:txBody>
                  <a:tcPr marL="91440" marR="91440" marT="36576" marB="36576" anchor="ctr">
                    <a:solidFill>
                      <a:srgbClr val="0F513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0">
                          <a:solidFill>
                            <a:srgbClr val="5B6B7A"/>
                          </a:solidFill>
                          <a:latin typeface="Tahoma"/>
                        </a:rPr>
                        <a:t>تحديات حركية عشوائية + كشف شاشة + ختم زمني للجلسة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0">
                          <a:solidFill>
                            <a:srgbClr val="5B6B7A"/>
                          </a:solidFill>
                          <a:latin typeface="Tahoma"/>
                        </a:rPr>
                        <a:t>انتحال هوية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1">
                          <a:solidFill>
                            <a:srgbClr val="12283F"/>
                          </a:solidFill>
                          <a:latin typeface="Tahoma"/>
                        </a:rPr>
                        <a:t>فيديو مسجَّل أو صورة مثبتة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0">
                          <a:solidFill>
                            <a:srgbClr val="5B6B7A"/>
                          </a:solidFill>
                          <a:latin typeface="Tahoma"/>
                        </a:rPr>
                        <a:t>مطابقة الوجه بالصورة المرجعية + مراجعة بشرية عند الشك</a:t>
                      </a:r>
                    </a:p>
                  </a:txBody>
                  <a:tcPr marL="91440" marR="91440" marT="36576" marB="36576" anchor="ctr">
                    <a:solidFill>
                      <a:srgbClr val="F5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0">
                          <a:solidFill>
                            <a:srgbClr val="5B6B7A"/>
                          </a:solidFill>
                          <a:latin typeface="Tahoma"/>
                        </a:rPr>
                        <a:t>انتحال هوية</a:t>
                      </a:r>
                    </a:p>
                  </a:txBody>
                  <a:tcPr marL="91440" marR="91440" marT="36576" marB="36576" anchor="ctr">
                    <a:solidFill>
                      <a:srgbClr val="F5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1">
                          <a:solidFill>
                            <a:srgbClr val="12283F"/>
                          </a:solidFill>
                          <a:latin typeface="Tahoma"/>
                        </a:rPr>
                        <a:t>شخص آخر يؤدي التحديات</a:t>
                      </a:r>
                    </a:p>
                  </a:txBody>
                  <a:tcPr marL="91440" marR="91440" marT="36576" marB="36576" anchor="ctr">
                    <a:solidFill>
                      <a:srgbClr val="F5F9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0">
                          <a:solidFill>
                            <a:srgbClr val="5B6B7A"/>
                          </a:solidFill>
                          <a:latin typeface="Tahoma"/>
                        </a:rPr>
                        <a:t>حفظ تلقائي بعد كل خطوة + استئناف من نفس النقطة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0">
                          <a:solidFill>
                            <a:srgbClr val="5B6B7A"/>
                          </a:solidFill>
                          <a:latin typeface="Tahoma"/>
                        </a:rPr>
                        <a:t>فشل الطلب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1">
                          <a:solidFill>
                            <a:srgbClr val="12283F"/>
                          </a:solidFill>
                          <a:latin typeface="Tahoma"/>
                        </a:rPr>
                        <a:t>انقطاع الشبكة أو انتهاء جلسة نفاذ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0">
                          <a:solidFill>
                            <a:srgbClr val="5B6B7A"/>
                          </a:solidFill>
                          <a:latin typeface="Tahoma"/>
                        </a:rPr>
                        <a:t>كاشف تناقض صريح + إحالة للمراجعة بدل الترجيح الأعمى</a:t>
                      </a:r>
                    </a:p>
                  </a:txBody>
                  <a:tcPr marL="91440" marR="91440" marT="36576" marB="36576" anchor="ctr">
                    <a:solidFill>
                      <a:srgbClr val="F5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0">
                          <a:solidFill>
                            <a:srgbClr val="5B6B7A"/>
                          </a:solidFill>
                          <a:latin typeface="Tahoma"/>
                        </a:rPr>
                        <a:t>قرار خاطئ</a:t>
                      </a:r>
                    </a:p>
                  </a:txBody>
                  <a:tcPr marL="91440" marR="91440" marT="36576" marB="36576" anchor="ctr">
                    <a:solidFill>
                      <a:srgbClr val="F5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1">
                          <a:solidFill>
                            <a:srgbClr val="12283F"/>
                          </a:solidFill>
                          <a:latin typeface="Tahoma"/>
                        </a:rPr>
                        <a:t>تعارض بين المصادر</a:t>
                      </a:r>
                    </a:p>
                  </a:txBody>
                  <a:tcPr marL="91440" marR="91440" marT="36576" marB="36576" anchor="ctr">
                    <a:solidFill>
                      <a:srgbClr val="F5F9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0">
                          <a:solidFill>
                            <a:srgbClr val="5B6B7A"/>
                          </a:solidFill>
                          <a:latin typeface="Tahoma"/>
                        </a:rPr>
                        <a:t>قياس معدلات الرفض حسب الفئة + مراجعة بشرية دائمة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0">
                          <a:solidFill>
                            <a:srgbClr val="5B6B7A"/>
                          </a:solidFill>
                          <a:latin typeface="Tahoma"/>
                        </a:rPr>
                        <a:t>ظلم في الرفض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5000"/>
                        </a:lnSpc>
                      </a:pPr>
                      <a:r>
                        <a:rPr sz="1050" b="1">
                          <a:solidFill>
                            <a:srgbClr val="12283F"/>
                          </a:solidFill>
                          <a:latin typeface="Tahoma"/>
                        </a:rPr>
                        <a:t>تحيّز النموذج لفئة معينة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41487" y="6382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9AA8B4"/>
                </a:solidFill>
                <a:latin typeface="Tahoma"/>
              </a:rPr>
              <a:t>تحققنا — نموذج تجريبي ضمن المسابقة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E8E5A"/>
                </a:solidFill>
                <a:latin typeface="Tahoma"/>
              </a:rPr>
              <a:t>ملحق 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2283F"/>
                </a:solidFill>
                <a:latin typeface="Tahoma"/>
              </a:rPr>
              <a:t>أين نقف بين الفرق — بإنصاف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9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5B6B7A"/>
                </a:solidFill>
                <a:latin typeface="Tahoma"/>
              </a:rPr>
              <a:t>تقييم مبني على المواد المتاحة فقط؛ ما لا دليل عليه يُكتب «غير مثبت».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7487" y="1719072"/>
            <a:ext cx="1005840" cy="320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65376"/>
          <a:ext cx="10872216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976"/>
                <a:gridCol w="2926080"/>
                <a:gridCol w="3246120"/>
                <a:gridCol w="2606040"/>
              </a:tblGrid>
              <a:tr h="420624"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ahoma"/>
                        </a:rPr>
                        <a:t>طيف / نسَب</a:t>
                      </a:r>
                    </a:p>
                  </a:txBody>
                  <a:tcPr marL="82296" marR="82296" marT="27432" marB="27432" anchor="ctr">
                    <a:solidFill>
                      <a:srgbClr val="0F5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ahoma"/>
                        </a:rPr>
                        <a:t>بصمة الأثير</a:t>
                      </a:r>
                    </a:p>
                  </a:txBody>
                  <a:tcPr marL="82296" marR="82296" marT="27432" marB="27432" anchor="ctr">
                    <a:solidFill>
                      <a:srgbClr val="0F5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ahoma"/>
                        </a:rPr>
                        <a:t>تحققنا</a:t>
                      </a:r>
                    </a:p>
                  </a:txBody>
                  <a:tcPr marL="82296" marR="82296" marT="27432" marB="27432" anchor="ctr">
                    <a:solidFill>
                      <a:srgbClr val="0F51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Tahoma"/>
                        </a:rPr>
                        <a:t>المعيار</a:t>
                      </a:r>
                    </a:p>
                  </a:txBody>
                  <a:tcPr marL="82296" marR="82296" marT="27432" marB="27432" anchor="ctr">
                    <a:solidFill>
                      <a:srgbClr val="0F513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5B6B7A"/>
                          </a:solidFill>
                          <a:latin typeface="Tahoma"/>
                        </a:rPr>
                        <a:t>غير مفصح / لا ملفات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5B6B7A"/>
                          </a:solidFill>
                          <a:latin typeface="Tahoma"/>
                        </a:rPr>
                        <a:t>بديل لبصمة الإصبع في التجديد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0F5132"/>
                          </a:solidFill>
                          <a:latin typeface="Tahoma"/>
                        </a:rPr>
                        <a:t>إصدار أول هوية بلا سابق حيوي</a:t>
                      </a:r>
                    </a:p>
                  </a:txBody>
                  <a:tcPr marL="82296" marR="82296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12283F"/>
                          </a:solidFill>
                          <a:latin typeface="Tahoma"/>
                        </a:rPr>
                        <a:t>نوع المشكلة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5B6B7A"/>
                          </a:solidFill>
                          <a:latin typeface="Tahoma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5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5B6B7A"/>
                          </a:solidFill>
                          <a:latin typeface="Tahoma"/>
                        </a:rPr>
                        <a:t>نعم — NFC في الجوال</a:t>
                      </a:r>
                    </a:p>
                  </a:txBody>
                  <a:tcPr marL="82296" marR="82296" marT="27432" marB="27432" anchor="ctr">
                    <a:solidFill>
                      <a:srgbClr val="F5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0F5132"/>
                          </a:solidFill>
                          <a:latin typeface="Tahoma"/>
                        </a:rPr>
                        <a:t>لا — متصفح وكاميرا</a:t>
                      </a:r>
                    </a:p>
                  </a:txBody>
                  <a:tcPr marL="82296" marR="82296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12283F"/>
                          </a:solidFill>
                          <a:latin typeface="Tahoma"/>
                        </a:rPr>
                        <a:t>أجهزة إضافية</a:t>
                      </a:r>
                    </a:p>
                  </a:txBody>
                  <a:tcPr marL="82296" marR="82296" marT="27432" marB="27432" anchor="ctr">
                    <a:solidFill>
                      <a:srgbClr val="F5F9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5B6B7A"/>
                          </a:solidFill>
                          <a:latin typeface="Tahoma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5B6B7A"/>
                          </a:solidFill>
                          <a:latin typeface="Tahoma"/>
                        </a:rPr>
                        <a:t>نتيجة نهائية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0F5132"/>
                          </a:solidFill>
                          <a:latin typeface="Tahoma"/>
                        </a:rPr>
                        <a:t>أسباب مكتوبة + أوزان معلنة</a:t>
                      </a:r>
                    </a:p>
                  </a:txBody>
                  <a:tcPr marL="82296" marR="82296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12283F"/>
                          </a:solidFill>
                          <a:latin typeface="Tahoma"/>
                        </a:rPr>
                        <a:t>تفسير القرار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5B6B7A"/>
                          </a:solidFill>
                          <a:latin typeface="Tahoma"/>
                        </a:rPr>
                        <a:t>تصميم فقط</a:t>
                      </a:r>
                    </a:p>
                  </a:txBody>
                  <a:tcPr marL="82296" marR="82296" marT="27432" marB="27432" anchor="ctr">
                    <a:solidFill>
                      <a:srgbClr val="F5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5B6B7A"/>
                          </a:solidFill>
                          <a:latin typeface="Tahoma"/>
                        </a:rPr>
                        <a:t>حي (لم يُفتح في فحصنا)</a:t>
                      </a:r>
                    </a:p>
                  </a:txBody>
                  <a:tcPr marL="82296" marR="82296" marT="27432" marB="27432" anchor="ctr">
                    <a:solidFill>
                      <a:srgbClr val="F5F9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0F5132"/>
                          </a:solidFill>
                          <a:latin typeface="Tahoma"/>
                        </a:rPr>
                        <a:t>حي ومُختبَر (7 خطوات)</a:t>
                      </a:r>
                    </a:p>
                  </a:txBody>
                  <a:tcPr marL="82296" marR="82296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12283F"/>
                          </a:solidFill>
                          <a:latin typeface="Tahoma"/>
                        </a:rPr>
                        <a:t>حالة النموذج</a:t>
                      </a:r>
                    </a:p>
                  </a:txBody>
                  <a:tcPr marL="82296" marR="82296" marT="27432" marB="27432" anchor="ctr">
                    <a:solidFill>
                      <a:srgbClr val="F5F9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5B6B7A"/>
                          </a:solidFill>
                          <a:latin typeface="Tahoma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5B6B7A"/>
                          </a:solidFill>
                          <a:latin typeface="Tahoma"/>
                        </a:rPr>
                        <a:t>دقة 99.8% وزمن 1.8 ثانية — بلا منهجية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0F5132"/>
                          </a:solidFill>
                          <a:latin typeface="Tahoma"/>
                        </a:rPr>
                        <a:t>لا أرقام غير مُختبَرة</a:t>
                      </a:r>
                    </a:p>
                  </a:txBody>
                  <a:tcPr marL="82296" marR="82296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12283F"/>
                          </a:solidFill>
                          <a:latin typeface="Tahoma"/>
                        </a:rPr>
                        <a:t>ادعاءات الأداء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41487" y="6382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9AA8B4"/>
                </a:solidFill>
                <a:latin typeface="Tahoma"/>
              </a:rPr>
              <a:t>تحققنا — نموذج تجريبي ضمن المسابقة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E8E5A"/>
                </a:solidFill>
                <a:latin typeface="Tahoma"/>
              </a:rPr>
              <a:t>ملحق 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2283F"/>
                </a:solidFill>
                <a:latin typeface="Tahoma"/>
              </a:rPr>
              <a:t>خطة التنفيذ بعد المسابقة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9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5B6B7A"/>
                </a:solidFill>
                <a:latin typeface="Tahoma"/>
              </a:rPr>
              <a:t>أربع مراحل، كل مرحلة لها مخرج قابل للقياس.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7487" y="1719072"/>
            <a:ext cx="1005840" cy="320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5463" y="1865376"/>
            <a:ext cx="2567863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5463" y="1865376"/>
            <a:ext cx="2567863" cy="82296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30055" y="2066543"/>
            <a:ext cx="2238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المرحلة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30055" y="2322576"/>
            <a:ext cx="22386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12283F"/>
                </a:solidFill>
                <a:latin typeface="Tahoma"/>
              </a:rPr>
              <a:t>إصلاحات فورية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30055" y="2926080"/>
            <a:ext cx="22386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إصلاح رجوع السيناريو (D2)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بروتوكول إيقاظ الخوادم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فيديو احتياطي للعرض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تثبيت رقم إصدار للنموذج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0055" y="4242816"/>
            <a:ext cx="2238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5B6B7A"/>
                </a:solidFill>
                <a:latin typeface="Tahoma"/>
              </a:rPr>
              <a:t>أسبوع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865376"/>
            <a:ext cx="2567863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6431" y="1865376"/>
            <a:ext cx="2567863" cy="82296"/>
          </a:xfrm>
          <a:prstGeom prst="rect">
            <a:avLst/>
          </a:prstGeom>
          <a:solidFill>
            <a:srgbClr val="17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1023" y="2066543"/>
            <a:ext cx="2238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76B43"/>
                </a:solidFill>
                <a:latin typeface="Tahoma"/>
              </a:rPr>
              <a:t>المرحلة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023" y="2322576"/>
            <a:ext cx="22386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12283F"/>
                </a:solidFill>
                <a:latin typeface="Tahoma"/>
              </a:rPr>
              <a:t>محرك الثقة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1023" y="2926080"/>
            <a:ext cx="22386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تفعيل الأوزان في الواجهة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بطاقة سبب لكل رفض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لوحة مراجع بشري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توثيق معادلة الأوزان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4242816"/>
            <a:ext cx="2238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5B6B7A"/>
                </a:solidFill>
                <a:latin typeface="Tahoma"/>
              </a:rPr>
              <a:t>من 3 إلى 4 أسابيع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7399" y="1865376"/>
            <a:ext cx="2567863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7399" y="1865376"/>
            <a:ext cx="2567863" cy="82296"/>
          </a:xfrm>
          <a:prstGeom prst="rect">
            <a:avLst/>
          </a:prstGeom>
          <a:solidFill>
            <a:srgbClr val="2C5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1991" y="2066543"/>
            <a:ext cx="2238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2C5F7C"/>
                </a:solidFill>
                <a:latin typeface="Tahoma"/>
              </a:rPr>
              <a:t>المرحلة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1991" y="2322576"/>
            <a:ext cx="22386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12283F"/>
                </a:solidFill>
                <a:latin typeface="Tahoma"/>
              </a:rPr>
              <a:t>التجربة والصمود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1991" y="2926080"/>
            <a:ext cx="22386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فحص جاهزية الجهاز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استئناف بعد الانقطاع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أوضاع وصولية بديلة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اختبار على أجهزة متعددة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1991" y="4242816"/>
            <a:ext cx="2238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5B6B7A"/>
                </a:solidFill>
                <a:latin typeface="Tahoma"/>
              </a:rPr>
              <a:t>من 4 إلى 6 أسابيع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7" y="1865376"/>
            <a:ext cx="2567863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7" y="1865376"/>
            <a:ext cx="2567863" cy="82296"/>
          </a:xfrm>
          <a:prstGeom prst="rect">
            <a:avLst/>
          </a:prstGeom>
          <a:solidFill>
            <a:srgbClr val="0B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2066543"/>
            <a:ext cx="2238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0B3D26"/>
                </a:solidFill>
                <a:latin typeface="Tahoma"/>
              </a:rPr>
              <a:t>المرحلة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2322576"/>
            <a:ext cx="22386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12283F"/>
                </a:solidFill>
                <a:latin typeface="Tahoma"/>
              </a:rPr>
              <a:t>الثقة المؤسسية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2926080"/>
            <a:ext cx="22386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سجل تدقيق مرتبط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ختم جلسة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حزمة أدلة بمشاركة آمنة</a:t>
            </a:r>
          </a:p>
          <a:p>
            <a:pPr algn="r" rtl="1">
              <a:lnSpc>
                <a:spcPct val="145000"/>
              </a:lnSpc>
              <a:spcAft>
                <a:spcPts val="400"/>
              </a:spcAft>
            </a:pPr>
            <a:r>
              <a:rPr sz="500">
                <a:solidFill>
                  <a:srgbClr val="1E8E5A"/>
                </a:solidFill>
                <a:latin typeface="Tahoma"/>
              </a:rPr>
              <a:t>●  </a:t>
            </a:r>
            <a:r>
              <a:rPr sz="900">
                <a:solidFill>
                  <a:srgbClr val="5B6B7A"/>
                </a:solidFill>
                <a:latin typeface="Tahoma"/>
              </a:rPr>
              <a:t>مراجعة قانونية للسياسة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4242816"/>
            <a:ext cx="22386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5B6B7A"/>
                </a:solidFill>
                <a:latin typeface="Tahoma"/>
              </a:rPr>
              <a:t>من 6 إلى 8 أسابيع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7492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5F9F6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230368"/>
            <a:ext cx="10326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176B43"/>
                </a:solidFill>
                <a:latin typeface="Tahoma"/>
              </a:rPr>
              <a:t>المرحلة 0 وحدها تكفي للنسخة الحالية؛ وما بعدها خطة تنفيذ حقيقية لا وعود.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1487" y="6382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9AA8B4"/>
                </a:solidFill>
                <a:latin typeface="Tahoma"/>
              </a:rPr>
              <a:t>تحققنا — نموذج تجريبي ضمن المسابقة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E8E5A"/>
                </a:solidFill>
                <a:latin typeface="Tahoma"/>
              </a:rPr>
              <a:t>ملحق هـ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0467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2283F"/>
                </a:solidFill>
                <a:latin typeface="Tahoma"/>
              </a:rPr>
              <a:t>ما تحققنا منه فعليًا — وما لم نتحقق منه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9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5B6B7A"/>
                </a:solidFill>
                <a:latin typeface="Tahoma"/>
              </a:rPr>
              <a:t>سياسة الفريق: لا تُسجَّل نتيجة «ناجح» إلا بعد تنفيذ المسار فعليًا.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7487" y="1719072"/>
            <a:ext cx="1005840" cy="320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81567" y="1892807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5F9F6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1567" y="2048256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3000" b="1">
                <a:solidFill>
                  <a:srgbClr val="1E8E5A"/>
                </a:solidFill>
                <a:latin typeface="Tahoma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1567" y="26883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B6B7A"/>
                </a:solidFill>
                <a:latin typeface="Tahoma"/>
              </a:rPr>
              <a:t>اختبارًا ناجحًا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2647" y="1892807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5F9F6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2647" y="2048256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3000" b="1">
                <a:solidFill>
                  <a:srgbClr val="A9670A"/>
                </a:solidFill>
                <a:latin typeface="Tahom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2647" y="26883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B6B7A"/>
                </a:solidFill>
                <a:latin typeface="Tahoma"/>
              </a:rPr>
              <a:t>عيبًا مسجّلًا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3727" y="1892807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5F9F6"/>
          </a:solidFill>
          <a:ln w="12700">
            <a:solidFill>
              <a:srgbClr val="DCE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3727" y="2048256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3000" b="1">
                <a:solidFill>
                  <a:srgbClr val="5B6B7A"/>
                </a:solidFill>
                <a:latin typeface="Tahom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3727" y="26883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B6B7A"/>
                </a:solidFill>
                <a:latin typeface="Tahoma"/>
              </a:rPr>
              <a:t>اختبارًا غير منفّذ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3310128"/>
            <a:ext cx="5230368" cy="1737360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343814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0F5132"/>
                </a:solidFill>
                <a:latin typeface="Tahoma"/>
              </a:rPr>
              <a:t>تحققنا منه فعليًا (بالدليل)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767328"/>
            <a:ext cx="4800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  <a:spcAft>
                <a:spcPts val="400"/>
              </a:spcAft>
            </a:pPr>
            <a:r>
              <a:rPr sz="550">
                <a:solidFill>
                  <a:srgbClr val="1E8E5A"/>
                </a:solidFill>
                <a:latin typeface="Tahoma"/>
              </a:rPr>
              <a:t>●  </a:t>
            </a:r>
            <a:r>
              <a:rPr sz="950">
                <a:solidFill>
                  <a:srgbClr val="5B6B7A"/>
                </a:solidFill>
                <a:latin typeface="Tahoma"/>
              </a:rPr>
              <a:t>رحلة كاملة 7 خطوات على شاشة أفقية</a:t>
            </a:r>
          </a:p>
          <a:p>
            <a:pPr algn="r" rtl="1">
              <a:lnSpc>
                <a:spcPct val="140000"/>
              </a:lnSpc>
              <a:spcAft>
                <a:spcPts val="400"/>
              </a:spcAft>
            </a:pPr>
            <a:r>
              <a:rPr sz="550">
                <a:solidFill>
                  <a:srgbClr val="1E8E5A"/>
                </a:solidFill>
                <a:latin typeface="Tahoma"/>
              </a:rPr>
              <a:t>●  </a:t>
            </a:r>
            <a:r>
              <a:rPr sz="950">
                <a:solidFill>
                  <a:srgbClr val="5B6B7A"/>
                </a:solidFill>
                <a:latin typeface="Tahoma"/>
              </a:rPr>
              <a:t>3 سيناريوهات + 4 مسارات فشل</a:t>
            </a:r>
          </a:p>
          <a:p>
            <a:pPr algn="r" rtl="1">
              <a:lnSpc>
                <a:spcPct val="140000"/>
              </a:lnSpc>
              <a:spcAft>
                <a:spcPts val="400"/>
              </a:spcAft>
            </a:pPr>
            <a:r>
              <a:rPr sz="550">
                <a:solidFill>
                  <a:srgbClr val="1E8E5A"/>
                </a:solidFill>
                <a:latin typeface="Tahoma"/>
              </a:rPr>
              <a:t>●  </a:t>
            </a:r>
            <a:r>
              <a:rPr sz="950">
                <a:solidFill>
                  <a:srgbClr val="5B6B7A"/>
                </a:solidFill>
                <a:latin typeface="Tahoma"/>
              </a:rPr>
              <a:t>RTL كامل وزمن رحلة بين 90 و120 ثانية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310128"/>
            <a:ext cx="5230368" cy="173736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F0BD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43814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B3261E"/>
                </a:solidFill>
                <a:latin typeface="Tahoma"/>
              </a:rPr>
              <a:t>لم نتحقق منه (ولا ندّعيه)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767328"/>
            <a:ext cx="4800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 rtl="1">
              <a:lnSpc>
                <a:spcPct val="140000"/>
              </a:lnSpc>
              <a:spcAft>
                <a:spcPts val="400"/>
              </a:spcAft>
            </a:pPr>
            <a:r>
              <a:rPr sz="550">
                <a:solidFill>
                  <a:srgbClr val="B3261E"/>
                </a:solidFill>
                <a:latin typeface="Tahoma"/>
              </a:rPr>
              <a:t>●  </a:t>
            </a:r>
            <a:r>
              <a:rPr sz="950">
                <a:solidFill>
                  <a:srgbClr val="5B6B7A"/>
                </a:solidFill>
                <a:latin typeface="Tahoma"/>
              </a:rPr>
              <a:t>دقة مطابقة الوجه و FAR/FRR على عينات حقيقية</a:t>
            </a:r>
          </a:p>
          <a:p>
            <a:pPr algn="r" rtl="1">
              <a:lnSpc>
                <a:spcPct val="140000"/>
              </a:lnSpc>
              <a:spcAft>
                <a:spcPts val="400"/>
              </a:spcAft>
            </a:pPr>
            <a:r>
              <a:rPr sz="550">
                <a:solidFill>
                  <a:srgbClr val="B3261E"/>
                </a:solidFill>
                <a:latin typeface="Tahoma"/>
              </a:rPr>
              <a:t>●  </a:t>
            </a:r>
            <a:r>
              <a:rPr sz="950">
                <a:solidFill>
                  <a:srgbClr val="5B6B7A"/>
                </a:solidFill>
                <a:latin typeface="Tahoma"/>
              </a:rPr>
              <a:t>كشف Deepfake بمنهجية منشورة</a:t>
            </a:r>
          </a:p>
          <a:p>
            <a:pPr algn="r" rtl="1">
              <a:lnSpc>
                <a:spcPct val="140000"/>
              </a:lnSpc>
              <a:spcAft>
                <a:spcPts val="400"/>
              </a:spcAft>
            </a:pPr>
            <a:r>
              <a:rPr sz="550">
                <a:solidFill>
                  <a:srgbClr val="B3261E"/>
                </a:solidFill>
                <a:latin typeface="Tahoma"/>
              </a:rPr>
              <a:t>●  </a:t>
            </a:r>
            <a:r>
              <a:rPr sz="950">
                <a:solidFill>
                  <a:srgbClr val="5B6B7A"/>
                </a:solidFill>
                <a:latin typeface="Tahoma"/>
              </a:rPr>
              <a:t>الأداء تحت حمل إنتاجي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23036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B6B7A"/>
                </a:solidFill>
                <a:latin typeface="Tahoma"/>
              </a:rPr>
              <a:t>المراجع — ملفات المشروع: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468112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5B6B7A"/>
                </a:solidFill>
                <a:latin typeface="Tahoma"/>
              </a:rPr>
              <a:t>02_PROJECT_REVIEW   ·   03_COMPETITOR_COMPARISON   ·   05_TEST_RESULTS   ·   06_JUDGES_QA   ·   07_DEMO_SCRIPT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1487" y="6382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9AA8B4"/>
                </a:solidFill>
                <a:latin typeface="Tahoma"/>
              </a:rPr>
              <a:t>تحققنا — نموذج تجريبي ضمن المسابقة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35000"/>
              </a:lnSpc>
              <a:spcAft>
                <a:spcPts val="0"/>
              </a:spcAft>
            </a:pPr>
            <a:r>
              <a:rPr sz="950" b="1">
                <a:solidFill>
                  <a:srgbClr val="1E8E5A"/>
                </a:solidFill>
                <a:latin typeface="Tahoma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